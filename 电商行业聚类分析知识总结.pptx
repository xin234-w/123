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06340"/>
            <a:ext cx="9144000" cy="13716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4" name="Shape 2"/>
          <p:cNvSpPr/>
          <p:nvPr/>
        </p:nvSpPr>
        <p:spPr>
          <a:xfrm>
            <a:off x="7132320" y="731520"/>
            <a:ext cx="1828800" cy="1828800"/>
          </a:xfrm>
          <a:prstGeom prst="ellipse">
            <a:avLst/>
          </a:prstGeom>
          <a:solidFill>
            <a:srgbClr val="1C7293">
              <a:alpha val="3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82880" y="3474720"/>
            <a:ext cx="1645920" cy="1645920"/>
          </a:xfrm>
          <a:prstGeom prst="ellipse">
            <a:avLst/>
          </a:prstGeom>
          <a:solidFill>
            <a:srgbClr val="21295C">
              <a:alpha val="2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37160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4000" b="1" spc="3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电商行业聚类分析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914400" y="24688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800" spc="200" kern="0" dirty="0">
                <a:solidFill>
                  <a:srgbClr val="A8D5E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知识总结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3200400" y="3291840"/>
            <a:ext cx="2743200" cy="0"/>
          </a:xfrm>
          <a:prstGeom prst="line">
            <a:avLst/>
          </a:prstGeom>
          <a:noFill/>
          <a:ln w="25400">
            <a:solidFill>
              <a:srgbClr val="A8D5E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35661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A8D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应用场景 | 方法分类 | K-Means详解</a:t>
            </a:r>
            <a:endParaRPr lang="en-US" sz="1400" dirty="0"/>
          </a:p>
        </p:txBody>
      </p:sp>
      <p:sp>
        <p:nvSpPr>
          <p:cNvPr id="10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spc="1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目录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A8D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914400" y="128016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2801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828800" y="128016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电商聚类分析应用场景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828800" y="16459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用户分群、商品推荐、异常检测、运营优化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914400" y="2057400"/>
            <a:ext cx="7315200" cy="0"/>
          </a:xfrm>
          <a:prstGeom prst="line">
            <a:avLst/>
          </a:prstGeom>
          <a:noFill/>
          <a:ln w="6350">
            <a:solidFill>
              <a:srgbClr val="A8D5E2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914400" y="246888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24688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828800" y="246888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聚类分析方法分类与对比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828800" y="28346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划分式、层次式、密度式、模型式聚类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4400" y="3246120"/>
            <a:ext cx="7315200" cy="0"/>
          </a:xfrm>
          <a:prstGeom prst="line">
            <a:avLst/>
          </a:prstGeom>
          <a:noFill/>
          <a:ln w="6350">
            <a:solidFill>
              <a:srgbClr val="A8D5E2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914400" y="365760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36576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828800" y="36576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K-Means算法流程与要点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828800" y="40233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算法步骤、K值选择、初始化、标准化</a:t>
            </a:r>
            <a:endParaRPr lang="en-US" sz="1200" dirty="0"/>
          </a:p>
        </p:txBody>
      </p:sp>
      <p:sp>
        <p:nvSpPr>
          <p:cNvPr id="19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spc="1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电商聚类分析应用场景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A8D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SCENARIOS IN E-COMMERCE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384048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188720"/>
            <a:ext cx="54864" cy="16459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28016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用户分群与精准营销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1600200"/>
            <a:ext cx="3566160" cy="1143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RFM模型：按消费时间、频率、金额分群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行为画像：忠诚型/促销敏感型/探索型/沉睡型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差异化策略：一群一策，转化率提升30%+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63440" y="1188720"/>
            <a:ext cx="384048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1188720"/>
            <a:ext cx="54864" cy="16459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4846320" y="128016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商品分析与推荐优化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46320" y="1600200"/>
            <a:ext cx="3566160" cy="1143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购买偏好挖掘：浏览路径、加购顺序、停留时间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商品聚类管理：相似商品归组，优化库存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个性化推荐：为每个用户群体构建专属模型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108960"/>
            <a:ext cx="384048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3108960"/>
            <a:ext cx="54864" cy="164592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20040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异常检测与风险控制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0080" y="3520440"/>
            <a:ext cx="3566160" cy="1143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DBSCAN检测异常交易行为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识别刷单、欺诈等恶意行为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流量异常监测，防范爬虫攻击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663440" y="3108960"/>
            <a:ext cx="384048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63440" y="3108960"/>
            <a:ext cx="54864" cy="1645920"/>
          </a:xfrm>
          <a:prstGeom prst="rect">
            <a:avLst/>
          </a:prstGeom>
          <a:solidFill>
            <a:srgbClr val="0A4D68"/>
          </a:solidFill>
          <a:ln/>
        </p:spPr>
      </p:sp>
      <p:sp>
        <p:nvSpPr>
          <p:cNvPr id="19" name="Text 17"/>
          <p:cNvSpPr/>
          <p:nvPr/>
        </p:nvSpPr>
        <p:spPr>
          <a:xfrm>
            <a:off x="4846320" y="320040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A4D6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运营优化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846320" y="3520440"/>
            <a:ext cx="3566160" cy="1143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库存优化：按销售特征聚类统一管理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定价策略：分析价格敏感度差异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品类管理：发现商品关联关系</a:t>
            </a:r>
            <a:endParaRPr lang="en-US" sz="1100" dirty="0"/>
          </a:p>
        </p:txBody>
      </p:sp>
      <p:sp>
        <p:nvSpPr>
          <p:cNvPr id="21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spc="1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聚类分析方法分类与对比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A8D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 METHODS COMPARISON</a:t>
            </a:r>
            <a:endParaRPr lang="en-US" sz="1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143000"/>
          <a:ext cx="841248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1097280"/>
                <a:gridCol w="731520"/>
                <a:gridCol w="731520"/>
                <a:gridCol w="731520"/>
                <a:gridCol w="731520"/>
                <a:gridCol w="146304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方法类型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代表算法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簇形状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需预设K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对噪声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复杂度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适用场景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划分式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K-Means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K-Medoids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球形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是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74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敏感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低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大规模数据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球形分布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C72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层次式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凝聚式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分裂式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任意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否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不敏感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74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高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层级结构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K值不确定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密度式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DBSCAN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OPTICS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任意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否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不敏感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中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非球形簇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含噪声数据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A4D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模型式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GMM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椭圆形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是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39C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较鲁棒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中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概率输出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软聚类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41605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选择建议：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1554480" y="4160520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数据量大 → K-Means  |  </a:t>
            </a:r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噪声多 → DBSCAN  |  </a:t>
            </a:r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层级结构 → 层次聚类  |  </a:t>
            </a:r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概率输出 → GMM</a:t>
            </a:r>
            <a:endParaRPr lang="en-US" sz="1000" dirty="0"/>
          </a:p>
        </p:txBody>
      </p:sp>
      <p:sp>
        <p:nvSpPr>
          <p:cNvPr id="8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spc="1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K-Means算法流程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A8D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ALGORITHM WORKFLOW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1280160"/>
            <a:ext cx="1371600" cy="640080"/>
          </a:xfrm>
          <a:prstGeom prst="roundRect">
            <a:avLst>
              <a:gd name="adj" fmla="val 17143"/>
            </a:avLst>
          </a:prstGeom>
          <a:solidFill>
            <a:srgbClr val="065A82"/>
          </a:solidFill>
          <a:ln/>
          <a:effectLst>
            <a:outerShdw sx="100000" sy="100000" kx="0" ky="0" algn="bl" rotWithShape="0" blurRad="50800" dist="25400" dir="1620000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28016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初始化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201168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随机选择K个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样本作为质心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874520" y="1600200"/>
            <a:ext cx="32004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194560" y="1280160"/>
            <a:ext cx="1371600" cy="640080"/>
          </a:xfrm>
          <a:prstGeom prst="roundRect">
            <a:avLst>
              <a:gd name="adj" fmla="val 17143"/>
            </a:avLst>
          </a:prstGeom>
          <a:solidFill>
            <a:srgbClr val="1C7293"/>
          </a:solidFill>
          <a:ln/>
          <a:effectLst>
            <a:outerShdw sx="100000" sy="100000" kx="0" ky="0" algn="bl" rotWithShape="0" blurRad="50800" dist="25400" dir="1620000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194560" y="128016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分配样本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194560" y="201168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计算距离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分配到最近质心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566160" y="1600200"/>
            <a:ext cx="32004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3886200" y="1280160"/>
            <a:ext cx="1371600" cy="640080"/>
          </a:xfrm>
          <a:prstGeom prst="roundRect">
            <a:avLst>
              <a:gd name="adj" fmla="val 17143"/>
            </a:avLst>
          </a:prstGeom>
          <a:solidFill>
            <a:srgbClr val="21295C"/>
          </a:solidFill>
          <a:ln/>
          <a:effectLst>
            <a:outerShdw sx="100000" sy="100000" kx="0" ky="0" algn="bl" rotWithShape="0" blurRad="50800" dist="25400" dir="16200000">
              <a:srgbClr val="000000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886200" y="128016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更新质心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886200" y="201168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重新计算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每个簇的均值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257800" y="1600200"/>
            <a:ext cx="32004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5577840" y="1280160"/>
            <a:ext cx="1371600" cy="640080"/>
          </a:xfrm>
          <a:prstGeom prst="roundRect">
            <a:avLst>
              <a:gd name="adj" fmla="val 17143"/>
            </a:avLst>
          </a:prstGeom>
          <a:solidFill>
            <a:srgbClr val="0A4D68"/>
          </a:solidFill>
          <a:ln/>
          <a:effectLst>
            <a:outerShdw sx="100000" sy="100000" kx="0" ky="0" algn="bl" rotWithShape="0" blurRad="50800" dist="25400" dir="16200000">
              <a:srgbClr val="000000">
                <a:alpha val="1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577840" y="128016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迭代收敛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577840" y="201168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重复②③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至质心不变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949440" y="1600200"/>
            <a:ext cx="32004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7269480" y="1280160"/>
            <a:ext cx="1371600" cy="640080"/>
          </a:xfrm>
          <a:prstGeom prst="roundRect">
            <a:avLst>
              <a:gd name="adj" fmla="val 17143"/>
            </a:avLst>
          </a:prstGeom>
          <a:solidFill>
            <a:srgbClr val="065A82"/>
          </a:solidFill>
          <a:ln/>
          <a:effectLst>
            <a:outerShdw sx="100000" sy="100000" kx="0" ky="0" algn="bl" rotWithShape="0" blurRad="50800" dist="25400" dir="16200000">
              <a:srgbClr val="000000">
                <a:alpha val="1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269480" y="128016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输出结果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269480" y="201168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K个簇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及其质心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2743200"/>
            <a:ext cx="822960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000000">
                <a:alpha val="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40080" y="28346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核心公式与要点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40080" y="3200400"/>
            <a:ext cx="3657600" cy="15544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距离度量：</a:t>
            </a:r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欧氏距离（最常用）、曼哈顿距离、余弦相似度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质心更新：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新质心 = 该簇所有样本的均值向量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收敛条件：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质心变化 &lt; 阈值 / 簇分配不变 / 达到最大迭代次数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029200" y="3017520"/>
            <a:ext cx="347472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时间复杂度</a:t>
            </a:r>
            <a:endParaRPr lang="en-US" sz="12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O(n · k · t)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n=样本数, k=簇数, t=迭代次数</a:t>
            </a:r>
            <a:endParaRPr lang="en-US" sz="1200" dirty="0"/>
          </a:p>
        </p:txBody>
      </p:sp>
      <p:sp>
        <p:nvSpPr>
          <p:cNvPr id="28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spc="1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K-Means重点关注事项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A8D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CONSIDERATIONS FOR K-MEANS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384048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188720"/>
            <a:ext cx="54864" cy="15087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28016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K值选择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1600200"/>
            <a:ext cx="356616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肘部法则：绘制SSE曲线，选择拐点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轮廓系数：越高表示聚类效果越好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结合业务解释性选择有意义的K值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63440" y="1188720"/>
            <a:ext cx="384048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1188720"/>
            <a:ext cx="54864" cy="150876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4846320" y="128016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初始质心选择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46320" y="1600200"/>
            <a:ext cx="356616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随机初始化：简单但不稳定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K-Means++：初始化更均匀（推荐）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多次运行取最优结果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926080"/>
            <a:ext cx="384048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2926080"/>
            <a:ext cx="54864" cy="150876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01752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数据标准化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0080" y="3337560"/>
            <a:ext cx="356616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必须标准化！量纲差异大影响结果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Z-Score标准化：均值0，标准差1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Min-Max归一化：缩放到[0,1]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663440" y="2926080"/>
            <a:ext cx="384048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63440" y="2926080"/>
            <a:ext cx="54864" cy="1508760"/>
          </a:xfrm>
          <a:prstGeom prst="rect">
            <a:avLst/>
          </a:prstGeom>
          <a:solidFill>
            <a:srgbClr val="0A4D68"/>
          </a:solidFill>
          <a:ln/>
        </p:spPr>
      </p:sp>
      <p:sp>
        <p:nvSpPr>
          <p:cNvPr id="19" name="Text 17"/>
          <p:cNvSpPr/>
          <p:nvPr/>
        </p:nvSpPr>
        <p:spPr>
          <a:xfrm>
            <a:off x="4846320" y="301752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A4D6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异常值处理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846320" y="3337560"/>
            <a:ext cx="356616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K-Means对异常值敏感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先检测并去除异常值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或使用K-Medoids替代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4434840"/>
            <a:ext cx="8229600" cy="50292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443484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常见问题：</a:t>
            </a:r>
            <a:pPr indent="0" marL="0">
              <a:buNone/>
            </a:pPr>
            <a:r>
              <a:rPr lang="en-US" sz="1000" dirty="0">
                <a:solidFill>
                  <a:srgbClr val="A8D5E2"/>
                </a:solidFill>
              </a:rPr>
              <a:t>局部最优 → K-Means++初始化  |  空簇 → 重新选择质心  |  簇不均 → 检查数据分布  |  收敛慢 → 降维或增加迭代</a:t>
            </a:r>
            <a:endParaRPr lang="en-US" sz="1100" dirty="0"/>
          </a:p>
        </p:txBody>
      </p:sp>
      <p:sp>
        <p:nvSpPr>
          <p:cNvPr id="23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06340"/>
            <a:ext cx="9144000" cy="13716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4" name="Shape 2"/>
          <p:cNvSpPr/>
          <p:nvPr/>
        </p:nvSpPr>
        <p:spPr>
          <a:xfrm>
            <a:off x="7132320" y="731520"/>
            <a:ext cx="1828800" cy="1828800"/>
          </a:xfrm>
          <a:prstGeom prst="ellipse">
            <a:avLst/>
          </a:prstGeom>
          <a:solidFill>
            <a:srgbClr val="1C7293">
              <a:alpha val="3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82880" y="3474720"/>
            <a:ext cx="1645920" cy="1645920"/>
          </a:xfrm>
          <a:prstGeom prst="ellipse">
            <a:avLst/>
          </a:prstGeom>
          <a:solidFill>
            <a:srgbClr val="21295C">
              <a:alpha val="2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37160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4400" b="1" spc="3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谢谢</a:t>
            </a:r>
            <a:endParaRPr lang="en-US" sz="4400" dirty="0"/>
          </a:p>
        </p:txBody>
      </p:sp>
      <p:sp>
        <p:nvSpPr>
          <p:cNvPr id="7" name="Shape 5"/>
          <p:cNvSpPr/>
          <p:nvPr/>
        </p:nvSpPr>
        <p:spPr>
          <a:xfrm>
            <a:off x="3200400" y="2743200"/>
            <a:ext cx="2743200" cy="0"/>
          </a:xfrm>
          <a:prstGeom prst="line">
            <a:avLst/>
          </a:prstGeom>
          <a:noFill/>
          <a:ln w="25400">
            <a:solidFill>
              <a:srgbClr val="A8D5E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30175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A8D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电商行业聚类分析知识总结</a:t>
            </a:r>
            <a:endParaRPr lang="en-US" sz="1600" dirty="0"/>
          </a:p>
        </p:txBody>
      </p:sp>
      <p:sp>
        <p:nvSpPr>
          <p:cNvPr id="9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电商行业聚类分析知识总结</dc:title>
  <dc:subject>PptxGenJS Presentation</dc:subject>
  <dc:creator>SOLO</dc:creator>
  <cp:lastModifiedBy>SOLO</cp:lastModifiedBy>
  <cp:revision>1</cp:revision>
  <dcterms:created xsi:type="dcterms:W3CDTF">2026-05-11T10:22:21Z</dcterms:created>
  <dcterms:modified xsi:type="dcterms:W3CDTF">2026-05-11T10:22:21Z</dcterms:modified>
</cp:coreProperties>
</file>